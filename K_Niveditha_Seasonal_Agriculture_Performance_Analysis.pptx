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47" r:id="rId10"/>
    <p:sldId id="339" r:id="rId11"/>
    <p:sldId id="340" r:id="rId12"/>
    <p:sldId id="344" r:id="rId13"/>
    <p:sldId id="349" r:id="rId14"/>
    <p:sldId id="348"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48" d="100"/>
          <a:sy n="48" d="100"/>
        </p:scale>
        <p:origin x="36" y="30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emf"/></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18536" y="3808404"/>
            <a:ext cx="6890860" cy="861497"/>
          </a:xfrm>
        </p:spPr>
        <p:txBody>
          <a:bodyPr vert="horz" lIns="91440" tIns="45720" rIns="91440" bIns="45720" rtlCol="0" anchor="t">
            <a:noAutofit/>
          </a:bodyPr>
          <a:lstStyle/>
          <a:p>
            <a:r>
              <a:rPr lang="en-IN" sz="2400" dirty="0">
                <a:solidFill>
                  <a:schemeClr val="tx1"/>
                </a:solidFill>
                <a:latin typeface="Times New Roman" panose="02020603050405020304" pitchFamily="18" charset="0"/>
                <a:cs typeface="Times New Roman" panose="02020603050405020304" pitchFamily="18" charset="0"/>
              </a:rPr>
              <a:t>Student Name: </a:t>
            </a:r>
            <a:r>
              <a:rPr lang="en-IN" sz="2400" b="0" dirty="0">
                <a:solidFill>
                  <a:schemeClr val="tx1"/>
                </a:solidFill>
                <a:latin typeface="Times New Roman" panose="02020603050405020304" pitchFamily="18" charset="0"/>
                <a:cs typeface="Times New Roman" panose="02020603050405020304" pitchFamily="18" charset="0"/>
              </a:rPr>
              <a:t>K Niveditha Sai</a:t>
            </a:r>
            <a:br>
              <a:rPr lang="en-IN" sz="2400" dirty="0">
                <a:solidFill>
                  <a:schemeClr val="tx1"/>
                </a:solidFill>
                <a:latin typeface="Times New Roman" panose="02020603050405020304" pitchFamily="18" charset="0"/>
                <a:cs typeface="Times New Roman" panose="02020603050405020304" pitchFamily="18" charset="0"/>
              </a:rPr>
            </a:br>
            <a:r>
              <a:rPr lang="en-IN" sz="2400" dirty="0">
                <a:solidFill>
                  <a:schemeClr val="tx1"/>
                </a:solidFill>
                <a:latin typeface="Times New Roman" panose="02020603050405020304" pitchFamily="18" charset="0"/>
                <a:cs typeface="Times New Roman" panose="02020603050405020304" pitchFamily="18" charset="0"/>
              </a:rPr>
              <a:t>College Name: </a:t>
            </a:r>
            <a:r>
              <a:rPr lang="en-IN" sz="2400" b="0" dirty="0">
                <a:solidFill>
                  <a:schemeClr val="tx1"/>
                </a:solidFill>
                <a:latin typeface="Times New Roman" panose="02020603050405020304" pitchFamily="18" charset="0"/>
                <a:cs typeface="Times New Roman" panose="02020603050405020304" pitchFamily="18" charset="0"/>
              </a:rPr>
              <a:t>ACE Engineering College</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73397" y="2836737"/>
            <a:ext cx="4998720" cy="743448"/>
          </a:xfrm>
        </p:spPr>
        <p:txBody>
          <a:bodyPr>
            <a:normAutofit/>
          </a:bodyPr>
          <a:lstStyle/>
          <a:p>
            <a:r>
              <a:rPr lang="en-GB" sz="3200" b="1" dirty="0">
                <a:latin typeface="Times New Roman" panose="02020603050405020304" pitchFamily="18" charset="0"/>
                <a:cs typeface="Times New Roman" panose="02020603050405020304" pitchFamily="18" charset="0"/>
              </a:rPr>
              <a:t>Project Title </a:t>
            </a:r>
            <a:r>
              <a:rPr lang="en-GB" sz="320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79487" y="4622752"/>
            <a:ext cx="5880122"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AICTE STU ID : </a:t>
            </a:r>
            <a:r>
              <a:rPr lang="en-IN" sz="2000" dirty="0">
                <a:latin typeface="Times New Roman" panose="02020603050405020304" pitchFamily="18" charset="0"/>
                <a:cs typeface="Times New Roman" panose="02020603050405020304" pitchFamily="18" charset="0"/>
              </a:rPr>
              <a:t>STU67e29e9cae87e1742904988</a:t>
            </a:r>
            <a:endParaRPr lang="en-US"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E6EE93A-A15F-7060-D4D0-B622CFF74AB2}"/>
              </a:ext>
            </a:extLst>
          </p:cNvPr>
          <p:cNvSpPr txBox="1"/>
          <p:nvPr/>
        </p:nvSpPr>
        <p:spPr>
          <a:xfrm>
            <a:off x="2672757" y="2896695"/>
            <a:ext cx="7308732" cy="553998"/>
          </a:xfrm>
          <a:prstGeom prst="rect">
            <a:avLst/>
          </a:prstGeom>
          <a:noFill/>
        </p:spPr>
        <p:txBody>
          <a:bodyPr wrap="none" rtlCol="0">
            <a:spAutoFit/>
          </a:bodyPr>
          <a:lstStyle/>
          <a:p>
            <a:r>
              <a:rPr lang="en-IN" sz="3000" b="1" dirty="0">
                <a:latin typeface="Times New Roman" panose="02020603050405020304" pitchFamily="18" charset="0"/>
                <a:cs typeface="Times New Roman" panose="02020603050405020304" pitchFamily="18" charset="0"/>
              </a:rPr>
              <a:t>Seasonal Agriculture Performance Analysis</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130640"/>
            <a:ext cx="6995604" cy="4197606"/>
          </a:xfrm>
        </p:spPr>
        <p:txBody>
          <a:bodyPr vert="horz" lIns="91440" tIns="45720" rIns="91440" bIns="45720" rtlCol="0" anchor="t">
            <a:noAutofit/>
          </a:bodyPr>
          <a:lstStyle/>
          <a:p>
            <a:r>
              <a:rPr lang="en-IN"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a:t>
            </a:r>
          </a:p>
          <a:p>
            <a:r>
              <a:rPr lang="en-IN" dirty="0">
                <a:latin typeface="Times New Roman" panose="02020603050405020304" pitchFamily="18" charset="0"/>
                <a:cs typeface="Times New Roman" panose="02020603050405020304" pitchFamily="18" charset="0"/>
              </a:rPr>
              <a:t>The problem is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803345"/>
            <a:ext cx="6276109" cy="830997"/>
          </a:xfrm>
        </p:spPr>
        <p:txBody>
          <a:bodyPr>
            <a:normAutofit fontScale="90000"/>
          </a:bodyPr>
          <a:lstStyle/>
          <a:p>
            <a:r>
              <a:rPr lang="en-GB" dirty="0">
                <a:latin typeface="Times New Roman" panose="02020603050405020304" pitchFamily="18" charset="0"/>
                <a:cs typeface="Times New Roman" panose="02020603050405020304" pitchFamily="18" charset="0"/>
              </a:rPr>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B6DDAC16-68A0-A0EA-AB35-352D8B4654F2}"/>
              </a:ext>
            </a:extLst>
          </p:cNvPr>
          <p:cNvSpPr txBox="1"/>
          <p:nvPr/>
        </p:nvSpPr>
        <p:spPr>
          <a:xfrm>
            <a:off x="675957" y="2084337"/>
            <a:ext cx="8716399" cy="3970318"/>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This project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agricultural data across different seasons, crops, states and farming conditions to understand variations in agricultural performance.</a:t>
            </a:r>
          </a:p>
          <a:p>
            <a:pPr>
              <a:buNone/>
            </a:pPr>
            <a:r>
              <a:rPr lang="en-IN" dirty="0">
                <a:latin typeface="Times New Roman" panose="02020603050405020304" pitchFamily="18" charset="0"/>
                <a:cs typeface="Times New Roman" panose="02020603050405020304" pitchFamily="18" charset="0"/>
              </a:rPr>
              <a:t>The analysis focuses on:</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Exploring and understanding the agricultural dataset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Checking data quality and preparing the data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Comparing agricultural performance across Kharif, Rabi and Zaid seasons </a:t>
            </a:r>
          </a:p>
          <a:p>
            <a:pPr marL="342900" lvl="0" indent="-34290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crop-wise and state-wise yield patterns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Studying environmental conditions such as rainfall, temperature and soil moisture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Examining seasonal usage of water, fertilizer and pesticides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Comparing revenue, cost and profit across seasons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Investigating relationships between environmental conditions and yield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Identifying unusual observations and outliers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Applying statistical and visualization techniques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Developing evidence-based conclusions for seasonal agricultural planning .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67608" y="559751"/>
            <a:ext cx="10046070" cy="802641"/>
          </a:xfrm>
        </p:spPr>
        <p:txBody>
          <a:bodyPr>
            <a:normAutofit/>
          </a:bodyPr>
          <a:lstStyle/>
          <a:p>
            <a:r>
              <a:rPr lang="en-US" sz="4000" dirty="0">
                <a:latin typeface="Times New Roman" panose="02020603050405020304" pitchFamily="18" charset="0"/>
                <a:cs typeface="Times New Roman" panose="02020603050405020304" pitchFamily="18" charset="0"/>
              </a:rPr>
              <a:t>Who Are The End Users?</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Box 4">
            <a:extLst>
              <a:ext uri="{FF2B5EF4-FFF2-40B4-BE49-F238E27FC236}">
                <a16:creationId xmlns:a16="http://schemas.microsoft.com/office/drawing/2014/main" id="{B35DBC62-3831-4F66-C8EF-6235848D7CEA}"/>
              </a:ext>
            </a:extLst>
          </p:cNvPr>
          <p:cNvSpPr txBox="1"/>
          <p:nvPr/>
        </p:nvSpPr>
        <p:spPr>
          <a:xfrm>
            <a:off x="822959" y="1676063"/>
            <a:ext cx="7546341" cy="4893647"/>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Farmers</a:t>
            </a:r>
          </a:p>
          <a:p>
            <a:pPr>
              <a:buNone/>
            </a:pPr>
            <a:r>
              <a:rPr lang="en-IN" sz="2400" dirty="0">
                <a:latin typeface="Times New Roman" panose="02020603050405020304" pitchFamily="18" charset="0"/>
                <a:cs typeface="Times New Roman" panose="02020603050405020304" pitchFamily="18" charset="0"/>
              </a:rPr>
              <a:t>Can use seasonal performance insights to support crop and resource planning.</a:t>
            </a:r>
          </a:p>
          <a:p>
            <a:pPr>
              <a:buNone/>
            </a:pPr>
            <a:r>
              <a:rPr lang="en-IN" sz="2400" b="1" dirty="0">
                <a:latin typeface="Times New Roman" panose="02020603050405020304" pitchFamily="18" charset="0"/>
                <a:cs typeface="Times New Roman" panose="02020603050405020304" pitchFamily="18" charset="0"/>
              </a:rPr>
              <a:t>Agricultural Planners &amp; Policymakers</a:t>
            </a:r>
          </a:p>
          <a:p>
            <a:pPr>
              <a:buNone/>
            </a:pPr>
            <a:r>
              <a:rPr lang="en-IN" sz="2400" dirty="0">
                <a:latin typeface="Times New Roman" panose="02020603050405020304" pitchFamily="18" charset="0"/>
                <a:cs typeface="Times New Roman" panose="02020603050405020304" pitchFamily="18" charset="0"/>
              </a:rPr>
              <a:t>Can use seasonal and regional patterns for agricultural planning and resource allocation.</a:t>
            </a:r>
          </a:p>
          <a:p>
            <a:pPr>
              <a:buNone/>
            </a:pPr>
            <a:r>
              <a:rPr lang="en-IN" sz="2400" b="1" dirty="0">
                <a:latin typeface="Times New Roman" panose="02020603050405020304" pitchFamily="18" charset="0"/>
                <a:cs typeface="Times New Roman" panose="02020603050405020304" pitchFamily="18" charset="0"/>
              </a:rPr>
              <a:t>Agricultural Analysts &amp; Researchers</a:t>
            </a:r>
          </a:p>
          <a:p>
            <a:pPr>
              <a:buNone/>
            </a:pPr>
            <a:r>
              <a:rPr lang="en-IN" sz="2400" dirty="0">
                <a:latin typeface="Times New Roman" panose="02020603050405020304" pitchFamily="18" charset="0"/>
                <a:cs typeface="Times New Roman" panose="02020603050405020304" pitchFamily="18" charset="0"/>
              </a:rPr>
              <a:t>Can use the analysis to study relationships between environmental conditions, resources and agricultural outcomes.</a:t>
            </a:r>
          </a:p>
          <a:p>
            <a:pPr>
              <a:buNone/>
            </a:pPr>
            <a:r>
              <a:rPr lang="en-IN" sz="2400" b="1" dirty="0">
                <a:latin typeface="Times New Roman" panose="02020603050405020304" pitchFamily="18" charset="0"/>
                <a:cs typeface="Times New Roman" panose="02020603050405020304" pitchFamily="18" charset="0"/>
              </a:rPr>
              <a:t>Agri-business Stakeholders</a:t>
            </a:r>
          </a:p>
          <a:p>
            <a:pPr>
              <a:buNone/>
            </a:pPr>
            <a:r>
              <a:rPr lang="en-IN" sz="2400" dirty="0">
                <a:latin typeface="Times New Roman" panose="02020603050405020304" pitchFamily="18" charset="0"/>
                <a:cs typeface="Times New Roman" panose="02020603050405020304" pitchFamily="18" charset="0"/>
              </a:rPr>
              <a:t>Can use economic insights such as revenue, cost and profit to understand seasonal performance.</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sp>
        <p:nvSpPr>
          <p:cNvPr id="4" name="TextBox 3">
            <a:extLst>
              <a:ext uri="{FF2B5EF4-FFF2-40B4-BE49-F238E27FC236}">
                <a16:creationId xmlns:a16="http://schemas.microsoft.com/office/drawing/2014/main" id="{7CFC478C-6EC4-5870-4DF2-A80FDE8CA2D1}"/>
              </a:ext>
            </a:extLst>
          </p:cNvPr>
          <p:cNvSpPr txBox="1"/>
          <p:nvPr/>
        </p:nvSpPr>
        <p:spPr>
          <a:xfrm>
            <a:off x="1905000" y="1726415"/>
            <a:ext cx="7264400" cy="4401205"/>
          </a:xfrm>
          <a:prstGeom prst="rect">
            <a:avLst/>
          </a:prstGeom>
          <a:noFill/>
        </p:spPr>
        <p:txBody>
          <a:bodyPr wrap="square">
            <a:spAutoFit/>
          </a:bodyPr>
          <a:lstStyle/>
          <a:p>
            <a:pPr marL="342900" lvl="0" indent="-3429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Python</a:t>
            </a:r>
            <a:r>
              <a:rPr lang="en-IN" sz="2800" dirty="0">
                <a:latin typeface="Times New Roman" panose="02020603050405020304" pitchFamily="18" charset="0"/>
                <a:cs typeface="Times New Roman" panose="02020603050405020304" pitchFamily="18" charset="0"/>
              </a:rPr>
              <a:t> — Data analysis and statistical analysis </a:t>
            </a:r>
          </a:p>
          <a:p>
            <a:pPr marL="342900" lvl="0" indent="-3429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Pandas</a:t>
            </a:r>
            <a:r>
              <a:rPr lang="en-IN" sz="2800" dirty="0">
                <a:latin typeface="Times New Roman" panose="02020603050405020304" pitchFamily="18" charset="0"/>
                <a:cs typeface="Times New Roman" panose="02020603050405020304" pitchFamily="18" charset="0"/>
              </a:rPr>
              <a:t> — Data manipulation and aggregation </a:t>
            </a:r>
          </a:p>
          <a:p>
            <a:pPr marL="342900" lvl="0" indent="-3429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NumPy</a:t>
            </a:r>
            <a:r>
              <a:rPr lang="en-IN" sz="2800" dirty="0">
                <a:latin typeface="Times New Roman" panose="02020603050405020304" pitchFamily="18" charset="0"/>
                <a:cs typeface="Times New Roman" panose="02020603050405020304" pitchFamily="18" charset="0"/>
              </a:rPr>
              <a:t> — Numerical operations </a:t>
            </a:r>
          </a:p>
          <a:p>
            <a:pPr marL="342900" lvl="0" indent="-3429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Matplotlib</a:t>
            </a:r>
            <a:r>
              <a:rPr lang="en-IN" sz="2800" dirty="0">
                <a:latin typeface="Times New Roman" panose="02020603050405020304" pitchFamily="18" charset="0"/>
                <a:cs typeface="Times New Roman" panose="02020603050405020304" pitchFamily="18" charset="0"/>
              </a:rPr>
              <a:t> — Data visualization </a:t>
            </a:r>
          </a:p>
          <a:p>
            <a:pPr marL="342900" lvl="0" indent="-3429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Seaborn</a:t>
            </a:r>
            <a:r>
              <a:rPr lang="en-IN" sz="2800" dirty="0">
                <a:latin typeface="Times New Roman" panose="02020603050405020304" pitchFamily="18" charset="0"/>
                <a:cs typeface="Times New Roman" panose="02020603050405020304" pitchFamily="18" charset="0"/>
              </a:rPr>
              <a:t> — Statistical visualizations </a:t>
            </a:r>
          </a:p>
          <a:p>
            <a:pPr marL="342900" lvl="0" indent="-3429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SciPy</a:t>
            </a:r>
            <a:r>
              <a:rPr lang="en-IN" sz="2800" dirty="0">
                <a:latin typeface="Times New Roman" panose="02020603050405020304" pitchFamily="18" charset="0"/>
                <a:cs typeface="Times New Roman" panose="02020603050405020304" pitchFamily="18" charset="0"/>
              </a:rPr>
              <a:t> — Statistical testing </a:t>
            </a:r>
          </a:p>
          <a:p>
            <a:pPr marL="342900" lvl="0" indent="-3429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Jupyter Notebook</a:t>
            </a:r>
            <a:r>
              <a:rPr lang="en-IN" sz="2800" dirty="0">
                <a:latin typeface="Times New Roman" panose="02020603050405020304" pitchFamily="18" charset="0"/>
                <a:cs typeface="Times New Roman" panose="02020603050405020304" pitchFamily="18" charset="0"/>
              </a:rPr>
              <a:t> — Analysis and documentation </a:t>
            </a:r>
          </a:p>
          <a:p>
            <a:pPr marL="342900" lvl="0" indent="-3429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VS Code</a:t>
            </a:r>
            <a:r>
              <a:rPr lang="en-IN" sz="2800" dirty="0">
                <a:latin typeface="Times New Roman" panose="02020603050405020304" pitchFamily="18" charset="0"/>
                <a:cs typeface="Times New Roman" panose="02020603050405020304" pitchFamily="18" charset="0"/>
              </a:rPr>
              <a:t> — Development environment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C0C8D-C775-2F06-08FB-5150134E682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712B45B-09F5-037E-089E-19412DEB51C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C37065C-3270-1C8D-6268-AE55BE273F7B}"/>
              </a:ext>
            </a:extLst>
          </p:cNvPr>
          <p:cNvSpPr>
            <a:spLocks noGrp="1"/>
          </p:cNvSpPr>
          <p:nvPr>
            <p:ph type="title"/>
          </p:nvPr>
        </p:nvSpPr>
        <p:spPr>
          <a:xfrm>
            <a:off x="1922734" y="2087734"/>
            <a:ext cx="8189479" cy="1687150"/>
          </a:xfrm>
        </p:spPr>
        <p:txBody>
          <a:bodyPr>
            <a:normAutofit fontScale="90000"/>
          </a:bodyPr>
          <a:lstStyle/>
          <a:p>
            <a:r>
              <a:rPr lang="en-GB" sz="153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8BA232C9-1AC9-291C-0C32-1223628B9C8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5509C8D-37E5-8734-968E-142A88CEB80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337869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E3FCD0C-73E4-0B45-D280-B5A64118656F}"/>
              </a:ext>
            </a:extLst>
          </p:cNvPr>
          <p:cNvPicPr>
            <a:picLocks noChangeAspect="1"/>
          </p:cNvPicPr>
          <p:nvPr/>
        </p:nvPicPr>
        <p:blipFill>
          <a:blip r:embed="rId3"/>
          <a:stretch>
            <a:fillRect/>
          </a:stretch>
        </p:blipFill>
        <p:spPr>
          <a:xfrm>
            <a:off x="6017474" y="2352900"/>
            <a:ext cx="5986304" cy="4228792"/>
          </a:xfrm>
          <a:prstGeom prst="rect">
            <a:avLst/>
          </a:prstGeom>
        </p:spPr>
      </p:pic>
      <p:pic>
        <p:nvPicPr>
          <p:cNvPr id="13" name="Picture 12">
            <a:extLst>
              <a:ext uri="{FF2B5EF4-FFF2-40B4-BE49-F238E27FC236}">
                <a16:creationId xmlns:a16="http://schemas.microsoft.com/office/drawing/2014/main" id="{3E85BD43-A5D7-B39E-CF2C-310413FE394A}"/>
              </a:ext>
            </a:extLst>
          </p:cNvPr>
          <p:cNvPicPr>
            <a:picLocks noChangeAspect="1"/>
          </p:cNvPicPr>
          <p:nvPr/>
        </p:nvPicPr>
        <p:blipFill>
          <a:blip r:embed="rId4"/>
          <a:stretch>
            <a:fillRect/>
          </a:stretch>
        </p:blipFill>
        <p:spPr>
          <a:xfrm>
            <a:off x="0" y="2532688"/>
            <a:ext cx="5917879" cy="4035752"/>
          </a:xfrm>
          <a:prstGeom prst="rect">
            <a:avLst/>
          </a:prstGeom>
        </p:spPr>
      </p:pic>
      <p:sp>
        <p:nvSpPr>
          <p:cNvPr id="15" name="TextBox 14">
            <a:extLst>
              <a:ext uri="{FF2B5EF4-FFF2-40B4-BE49-F238E27FC236}">
                <a16:creationId xmlns:a16="http://schemas.microsoft.com/office/drawing/2014/main" id="{D63FBEB6-5D1B-C13A-B1EA-854A546DF68D}"/>
              </a:ext>
            </a:extLst>
          </p:cNvPr>
          <p:cNvSpPr txBox="1"/>
          <p:nvPr/>
        </p:nvSpPr>
        <p:spPr>
          <a:xfrm>
            <a:off x="320982" y="1120699"/>
            <a:ext cx="9064487" cy="923330"/>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Kharif shows the highest average yield, followed by Rabi and Zaid. However, the ANOVA test indicates that the difference in mean yield across seasons is not statistically significant at the 5% level.</a:t>
            </a:r>
          </a:p>
        </p:txBody>
      </p:sp>
      <p:sp>
        <p:nvSpPr>
          <p:cNvPr id="17" name="TextBox 16">
            <a:extLst>
              <a:ext uri="{FF2B5EF4-FFF2-40B4-BE49-F238E27FC236}">
                <a16:creationId xmlns:a16="http://schemas.microsoft.com/office/drawing/2014/main" id="{4338D19C-D48B-D650-708C-BF2EBFC1A8C3}"/>
              </a:ext>
            </a:extLst>
          </p:cNvPr>
          <p:cNvSpPr txBox="1"/>
          <p:nvPr/>
        </p:nvSpPr>
        <p:spPr>
          <a:xfrm>
            <a:off x="320982" y="415507"/>
            <a:ext cx="610262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Average Yield Across Seasons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4AC73842-D23E-F217-DBA1-76DD8224AE46}"/>
              </a:ext>
            </a:extLst>
          </p:cNvPr>
          <p:cNvPicPr>
            <a:picLocks noChangeAspect="1"/>
          </p:cNvPicPr>
          <p:nvPr/>
        </p:nvPicPr>
        <p:blipFill>
          <a:blip r:embed="rId3"/>
          <a:stretch>
            <a:fillRect/>
          </a:stretch>
        </p:blipFill>
        <p:spPr>
          <a:xfrm>
            <a:off x="0" y="2597426"/>
            <a:ext cx="6008966" cy="3971014"/>
          </a:xfrm>
          <a:prstGeom prst="rect">
            <a:avLst/>
          </a:prstGeom>
        </p:spPr>
      </p:pic>
      <p:pic>
        <p:nvPicPr>
          <p:cNvPr id="14" name="Picture 13">
            <a:extLst>
              <a:ext uri="{FF2B5EF4-FFF2-40B4-BE49-F238E27FC236}">
                <a16:creationId xmlns:a16="http://schemas.microsoft.com/office/drawing/2014/main" id="{4FFE6E4C-F28A-8A5E-68EA-2ED1536807CA}"/>
              </a:ext>
            </a:extLst>
          </p:cNvPr>
          <p:cNvPicPr>
            <a:picLocks noChangeAspect="1"/>
          </p:cNvPicPr>
          <p:nvPr/>
        </p:nvPicPr>
        <p:blipFill>
          <a:blip r:embed="rId4"/>
          <a:stretch>
            <a:fillRect/>
          </a:stretch>
        </p:blipFill>
        <p:spPr>
          <a:xfrm>
            <a:off x="6017474" y="2592457"/>
            <a:ext cx="6008966" cy="3971013"/>
          </a:xfrm>
          <a:prstGeom prst="rect">
            <a:avLst/>
          </a:prstGeom>
        </p:spPr>
      </p:pic>
      <p:sp>
        <p:nvSpPr>
          <p:cNvPr id="16" name="TextBox 15">
            <a:extLst>
              <a:ext uri="{FF2B5EF4-FFF2-40B4-BE49-F238E27FC236}">
                <a16:creationId xmlns:a16="http://schemas.microsoft.com/office/drawing/2014/main" id="{CCD4FE74-FF7B-78A9-8E43-C931C25ACA6D}"/>
              </a:ext>
            </a:extLst>
          </p:cNvPr>
          <p:cNvSpPr txBox="1"/>
          <p:nvPr/>
        </p:nvSpPr>
        <p:spPr>
          <a:xfrm>
            <a:off x="375367" y="289560"/>
            <a:ext cx="8152092" cy="1754326"/>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Average Yield by Crop</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Yield varies substantially across crops. Sugarcane has the highest average yield in the dataset at approximately 46.94 tonnes/ha, while the remaining crops show much lower average yields.</a:t>
            </a:r>
          </a:p>
        </p:txBody>
      </p:sp>
      <p:sp>
        <p:nvSpPr>
          <p:cNvPr id="18" name="TextBox 17">
            <a:extLst>
              <a:ext uri="{FF2B5EF4-FFF2-40B4-BE49-F238E27FC236}">
                <a16:creationId xmlns:a16="http://schemas.microsoft.com/office/drawing/2014/main" id="{D2C04B05-E12B-5616-E359-22493A1D52B3}"/>
              </a:ext>
            </a:extLst>
          </p:cNvPr>
          <p:cNvSpPr txBox="1"/>
          <p:nvPr/>
        </p:nvSpPr>
        <p:spPr>
          <a:xfrm>
            <a:off x="3051313" y="3247647"/>
            <a:ext cx="6102626" cy="369332"/>
          </a:xfrm>
          <a:prstGeom prst="rect">
            <a:avLst/>
          </a:prstGeom>
          <a:noFill/>
        </p:spPr>
        <p:txBody>
          <a:bodyPr wrap="square">
            <a:spAutoFit/>
          </a:bodyPr>
          <a:lstStyle/>
          <a:p>
            <a:r>
              <a:rPr lang="en-IN" dirty="0"/>
              <a:t>Average Yield by Crop</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FF8BA95C-57A6-9CB8-FAEC-A96833409810}"/>
              </a:ext>
            </a:extLst>
          </p:cNvPr>
          <p:cNvPicPr>
            <a:picLocks noChangeAspect="1"/>
          </p:cNvPicPr>
          <p:nvPr/>
        </p:nvPicPr>
        <p:blipFill>
          <a:blip r:embed="rId3"/>
          <a:stretch>
            <a:fillRect/>
          </a:stretch>
        </p:blipFill>
        <p:spPr>
          <a:xfrm>
            <a:off x="0" y="2197412"/>
            <a:ext cx="5831053" cy="4308548"/>
          </a:xfrm>
          <a:prstGeom prst="rect">
            <a:avLst/>
          </a:prstGeom>
        </p:spPr>
      </p:pic>
      <p:pic>
        <p:nvPicPr>
          <p:cNvPr id="14" name="Picture 13">
            <a:extLst>
              <a:ext uri="{FF2B5EF4-FFF2-40B4-BE49-F238E27FC236}">
                <a16:creationId xmlns:a16="http://schemas.microsoft.com/office/drawing/2014/main" id="{3AE7DD11-2BB2-6C9D-972C-A875D25FB754}"/>
              </a:ext>
            </a:extLst>
          </p:cNvPr>
          <p:cNvPicPr>
            <a:picLocks noChangeAspect="1"/>
          </p:cNvPicPr>
          <p:nvPr/>
        </p:nvPicPr>
        <p:blipFill>
          <a:blip r:embed="rId4"/>
          <a:stretch>
            <a:fillRect/>
          </a:stretch>
        </p:blipFill>
        <p:spPr>
          <a:xfrm>
            <a:off x="5831053" y="2197412"/>
            <a:ext cx="6360947" cy="4464235"/>
          </a:xfrm>
          <a:prstGeom prst="rect">
            <a:avLst/>
          </a:prstGeom>
        </p:spPr>
      </p:pic>
      <p:sp>
        <p:nvSpPr>
          <p:cNvPr id="16" name="TextBox 15">
            <a:extLst>
              <a:ext uri="{FF2B5EF4-FFF2-40B4-BE49-F238E27FC236}">
                <a16:creationId xmlns:a16="http://schemas.microsoft.com/office/drawing/2014/main" id="{62A3404C-B08C-6C87-E389-0A7AE217689C}"/>
              </a:ext>
            </a:extLst>
          </p:cNvPr>
          <p:cNvSpPr txBox="1"/>
          <p:nvPr/>
        </p:nvSpPr>
        <p:spPr>
          <a:xfrm>
            <a:off x="410961" y="190916"/>
            <a:ext cx="8600565" cy="1815882"/>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Water Usage Across Seasons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Water usage shows considerable variation within each season. The distributions overlap substantially, with Zaid showing a somewhat higher central usage compared with Kharif and Rabi.</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72FA5-DEC0-7F36-C8F7-EE0D886299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5C17A4-DC8B-4347-7E64-FB64CBBD774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F4278B6A-B6A4-94FC-BB4A-8ED545D7C38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BC6C892-03BC-E807-9575-4E66156A839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2A8AA75-CAC8-70ED-5416-DD14F6D099E3}"/>
              </a:ext>
            </a:extLst>
          </p:cNvPr>
          <p:cNvPicPr>
            <a:picLocks noChangeAspect="1"/>
          </p:cNvPicPr>
          <p:nvPr/>
        </p:nvPicPr>
        <p:blipFill>
          <a:blip r:embed="rId3"/>
          <a:stretch>
            <a:fillRect/>
          </a:stretch>
        </p:blipFill>
        <p:spPr>
          <a:xfrm>
            <a:off x="6202017" y="2332382"/>
            <a:ext cx="5989983" cy="4332577"/>
          </a:xfrm>
          <a:prstGeom prst="rect">
            <a:avLst/>
          </a:prstGeom>
        </p:spPr>
      </p:pic>
      <p:pic>
        <p:nvPicPr>
          <p:cNvPr id="6" name="Picture 5">
            <a:extLst>
              <a:ext uri="{FF2B5EF4-FFF2-40B4-BE49-F238E27FC236}">
                <a16:creationId xmlns:a16="http://schemas.microsoft.com/office/drawing/2014/main" id="{6EB31C30-3C7E-3D44-BC7D-AA4ACC7907B3}"/>
              </a:ext>
            </a:extLst>
          </p:cNvPr>
          <p:cNvPicPr>
            <a:picLocks noChangeAspect="1"/>
          </p:cNvPicPr>
          <p:nvPr/>
        </p:nvPicPr>
        <p:blipFill>
          <a:blip r:embed="rId4"/>
          <a:stretch>
            <a:fillRect/>
          </a:stretch>
        </p:blipFill>
        <p:spPr>
          <a:xfrm>
            <a:off x="1" y="2332383"/>
            <a:ext cx="6202016" cy="4332577"/>
          </a:xfrm>
          <a:prstGeom prst="rect">
            <a:avLst/>
          </a:prstGeom>
        </p:spPr>
      </p:pic>
      <p:sp>
        <p:nvSpPr>
          <p:cNvPr id="10" name="TextBox 9">
            <a:extLst>
              <a:ext uri="{FF2B5EF4-FFF2-40B4-BE49-F238E27FC236}">
                <a16:creationId xmlns:a16="http://schemas.microsoft.com/office/drawing/2014/main" id="{973EA3B6-3173-A6C0-357E-7599D9B20EAA}"/>
              </a:ext>
            </a:extLst>
          </p:cNvPr>
          <p:cNvSpPr txBox="1"/>
          <p:nvPr/>
        </p:nvSpPr>
        <p:spPr>
          <a:xfrm>
            <a:off x="320982" y="302958"/>
            <a:ext cx="9067801" cy="1477328"/>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Profit Distribution Across Seasons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Profit varies considerably across seasons, with both positive and negative observations. Kharif has the highest average profit, while Zaid has a negative average profit.</a:t>
            </a:r>
          </a:p>
        </p:txBody>
      </p:sp>
    </p:spTree>
    <p:extLst>
      <p:ext uri="{BB962C8B-B14F-4D97-AF65-F5344CB8AC3E}">
        <p14:creationId xmlns:p14="http://schemas.microsoft.com/office/powerpoint/2010/main" val="87804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2A266-7C18-F05A-05A1-0C8A014239F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6151D7-0C4B-CDFE-9FA7-A6835B6A411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7AC00713-B60F-F3CA-C98B-1173B18B675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3F068A6-274C-55C4-34B9-B710B940C37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4724AE6-C68D-05BC-3336-110B333B7376}"/>
              </a:ext>
            </a:extLst>
          </p:cNvPr>
          <p:cNvPicPr>
            <a:picLocks noChangeAspect="1"/>
          </p:cNvPicPr>
          <p:nvPr/>
        </p:nvPicPr>
        <p:blipFill>
          <a:blip r:embed="rId3"/>
          <a:stretch>
            <a:fillRect/>
          </a:stretch>
        </p:blipFill>
        <p:spPr>
          <a:xfrm>
            <a:off x="5764695" y="2226365"/>
            <a:ext cx="6427305" cy="4451733"/>
          </a:xfrm>
          <a:prstGeom prst="rect">
            <a:avLst/>
          </a:prstGeom>
        </p:spPr>
      </p:pic>
      <p:pic>
        <p:nvPicPr>
          <p:cNvPr id="6" name="Picture 5">
            <a:extLst>
              <a:ext uri="{FF2B5EF4-FFF2-40B4-BE49-F238E27FC236}">
                <a16:creationId xmlns:a16="http://schemas.microsoft.com/office/drawing/2014/main" id="{F213F32C-AE03-C45C-E273-26F5953AB020}"/>
              </a:ext>
            </a:extLst>
          </p:cNvPr>
          <p:cNvPicPr>
            <a:picLocks noChangeAspect="1"/>
          </p:cNvPicPr>
          <p:nvPr/>
        </p:nvPicPr>
        <p:blipFill>
          <a:blip r:embed="rId4"/>
          <a:stretch>
            <a:fillRect/>
          </a:stretch>
        </p:blipFill>
        <p:spPr>
          <a:xfrm>
            <a:off x="-1" y="2226365"/>
            <a:ext cx="5764695" cy="4451733"/>
          </a:xfrm>
          <a:prstGeom prst="rect">
            <a:avLst/>
          </a:prstGeom>
        </p:spPr>
      </p:pic>
      <p:sp>
        <p:nvSpPr>
          <p:cNvPr id="10" name="TextBox 9">
            <a:extLst>
              <a:ext uri="{FF2B5EF4-FFF2-40B4-BE49-F238E27FC236}">
                <a16:creationId xmlns:a16="http://schemas.microsoft.com/office/drawing/2014/main" id="{29A6E5FA-35BB-8AA6-A662-3CF5AC60FCD5}"/>
              </a:ext>
            </a:extLst>
          </p:cNvPr>
          <p:cNvSpPr txBox="1"/>
          <p:nvPr/>
        </p:nvSpPr>
        <p:spPr>
          <a:xfrm>
            <a:off x="320982" y="193040"/>
            <a:ext cx="9435452" cy="1754326"/>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Environmental Conditions and Yield</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heatmap shows that the relationships between individual environmental variables and yield are weak in this dataset. This suggests that yield variation is not strongly explained by any single environmental factor.</a:t>
            </a:r>
          </a:p>
        </p:txBody>
      </p:sp>
    </p:spTree>
    <p:extLst>
      <p:ext uri="{BB962C8B-B14F-4D97-AF65-F5344CB8AC3E}">
        <p14:creationId xmlns:p14="http://schemas.microsoft.com/office/powerpoint/2010/main" val="239345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790257" y="700148"/>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26245DF3-3C1C-D48C-24B8-CADD090F2558}"/>
              </a:ext>
            </a:extLst>
          </p:cNvPr>
          <p:cNvSpPr txBox="1"/>
          <p:nvPr/>
        </p:nvSpPr>
        <p:spPr>
          <a:xfrm>
            <a:off x="508000" y="1935576"/>
            <a:ext cx="8715513" cy="4093428"/>
          </a:xfrm>
          <a:prstGeom prst="rect">
            <a:avLst/>
          </a:prstGeom>
          <a:noFill/>
        </p:spPr>
        <p:txBody>
          <a:bodyPr wrap="square">
            <a:spAutoFit/>
          </a:bodyPr>
          <a:lstStyle/>
          <a:p>
            <a:pPr>
              <a:buNone/>
            </a:pPr>
            <a:endParaRPr lang="en-IN" sz="20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Yield Prediction</a:t>
            </a:r>
            <a:r>
              <a:rPr lang="en-IN" sz="2000" dirty="0">
                <a:latin typeface="Times New Roman" panose="02020603050405020304" pitchFamily="18" charset="0"/>
                <a:cs typeface="Times New Roman" panose="02020603050405020304" pitchFamily="18" charset="0"/>
              </a:rPr>
              <a:t> — Develop predictive models for crop yield.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Resource Forecasting</a:t>
            </a:r>
            <a:r>
              <a:rPr lang="en-IN" sz="2000" dirty="0">
                <a:latin typeface="Times New Roman" panose="02020603050405020304" pitchFamily="18" charset="0"/>
                <a:cs typeface="Times New Roman" panose="02020603050405020304" pitchFamily="18" charset="0"/>
              </a:rPr>
              <a:t> — Predict water, fertilizer and pesticide requirements.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Crop Recommendation</a:t>
            </a:r>
            <a:r>
              <a:rPr lang="en-IN" sz="2000" dirty="0">
                <a:latin typeface="Times New Roman" panose="02020603050405020304" pitchFamily="18" charset="0"/>
                <a:cs typeface="Times New Roman" panose="02020603050405020304" pitchFamily="18" charset="0"/>
              </a:rPr>
              <a:t> — Recommend suitable crops based on seasonal and environmental conditions.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Weather Integration</a:t>
            </a:r>
            <a:r>
              <a:rPr lang="en-IN" sz="2000" dirty="0">
                <a:latin typeface="Times New Roman" panose="02020603050405020304" pitchFamily="18" charset="0"/>
                <a:cs typeface="Times New Roman" panose="02020603050405020304" pitchFamily="18" charset="0"/>
              </a:rPr>
              <a:t> — Incorporate real-time rainfall and temperature data.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Interactive Dashboard</a:t>
            </a:r>
            <a:r>
              <a:rPr lang="en-IN" sz="2000" dirty="0">
                <a:latin typeface="Times New Roman" panose="02020603050405020304" pitchFamily="18" charset="0"/>
                <a:cs typeface="Times New Roman" panose="02020603050405020304" pitchFamily="18" charset="0"/>
              </a:rPr>
              <a:t> — Develop a dashboard for easier exploration of agricultural trends.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Larger Datasets</a:t>
            </a:r>
            <a:r>
              <a:rPr lang="en-IN" sz="2000" dirty="0">
                <a:latin typeface="Times New Roman" panose="02020603050405020304" pitchFamily="18" charset="0"/>
                <a:cs typeface="Times New Roman" panose="02020603050405020304" pitchFamily="18" charset="0"/>
              </a:rPr>
              <a:t> — Extend the analysis using larger and more recent agricultural datasets. </a:t>
            </a:r>
          </a:p>
          <a:p>
            <a:pPr>
              <a:buNone/>
            </a:pPr>
            <a:endParaRPr lang="en-IN" sz="2000" b="1"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Future development can combine agricultural, environmental and economic data to support more data-driven and sustainable seasonal planning.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879157" y="109843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32883" y="2748420"/>
            <a:ext cx="7380817" cy="83099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https://github.com/kondalaniveditha/Seasonal-Agriculture-Performance-Analysis.git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6" y="370588"/>
            <a:ext cx="10042843" cy="1724911"/>
          </a:xfrm>
        </p:spPr>
        <p:txBody>
          <a:bodyPr>
            <a:noAutofit/>
          </a:bodyPr>
          <a:lstStyle/>
          <a:p>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68374B7D-4E32-D100-FAC1-F21EFF21E73F}"/>
              </a:ext>
            </a:extLst>
          </p:cNvPr>
          <p:cNvGraphicFramePr>
            <a:graphicFrameLocks noChangeAspect="1"/>
          </p:cNvGraphicFramePr>
          <p:nvPr>
            <p:extLst>
              <p:ext uri="{D42A27DB-BD31-4B8C-83A1-F6EECF244321}">
                <p14:modId xmlns:p14="http://schemas.microsoft.com/office/powerpoint/2010/main" val="2762564593"/>
              </p:ext>
            </p:extLst>
          </p:nvPr>
        </p:nvGraphicFramePr>
        <p:xfrm>
          <a:off x="1247774" y="1608410"/>
          <a:ext cx="6829425" cy="4826019"/>
        </p:xfrm>
        <a:graphic>
          <a:graphicData uri="http://schemas.openxmlformats.org/presentationml/2006/ole">
            <mc:AlternateContent xmlns:mc="http://schemas.openxmlformats.org/markup-compatibility/2006">
              <mc:Choice xmlns:v="urn:schemas-microsoft-com:vml" Requires="v">
                <p:oleObj name="Acrobat Document" r:id="rId3" imgW="5346330" imgH="3778206" progId="Acrobat.Document.DC">
                  <p:embed/>
                </p:oleObj>
              </mc:Choice>
              <mc:Fallback>
                <p:oleObj name="Acrobat Document" r:id="rId3" imgW="5346330" imgH="3778206" progId="Acrobat.Document.DC">
                  <p:embed/>
                  <p:pic>
                    <p:nvPicPr>
                      <p:cNvPr id="0" name=""/>
                      <p:cNvPicPr/>
                      <p:nvPr/>
                    </p:nvPicPr>
                    <p:blipFill>
                      <a:blip r:embed="rId4"/>
                      <a:stretch>
                        <a:fillRect/>
                      </a:stretch>
                    </p:blipFill>
                    <p:spPr>
                      <a:xfrm>
                        <a:off x="1247774" y="1608410"/>
                        <a:ext cx="6829425" cy="4826019"/>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629065" y="5537350"/>
            <a:ext cx="5466935" cy="1108635"/>
          </a:xfrm>
        </p:spPr>
        <p:txBody>
          <a:bodyPr>
            <a:noAutofit/>
          </a:bodyPr>
          <a:lstStyle/>
          <a:p>
            <a:pPr algn="l"/>
            <a:r>
              <a:rPr lang="en-IN" sz="2000" dirty="0">
                <a:latin typeface="Times New Roman" panose="02020603050405020304" pitchFamily="18" charset="0"/>
                <a:cs typeface="Times New Roman" panose="02020603050405020304" pitchFamily="18" charset="0"/>
              </a:rPr>
              <a:t>Seasonal Agriculture Performance Analysis</a:t>
            </a:r>
          </a:p>
          <a:p>
            <a:pPr algn="l"/>
            <a:r>
              <a:rPr lang="en-IN" sz="2000" dirty="0">
                <a:latin typeface="Times New Roman" panose="02020603050405020304" pitchFamily="18" charset="0"/>
                <a:cs typeface="Times New Roman" panose="02020603050405020304" pitchFamily="18" charset="0"/>
              </a:rPr>
              <a:t>K Niveditha Sai</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608941" y="1854373"/>
            <a:ext cx="11339999" cy="1892127"/>
          </a:xfrm>
        </p:spPr>
        <p:txBody>
          <a:bodyPr>
            <a:noAutofit/>
          </a:bodyPr>
          <a:lstStyle/>
          <a:p>
            <a:r>
              <a:rPr lang="en-IN" sz="11500"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1">
                                            <p:txEl>
                                              <p:pRg st="1" end="1"/>
                                            </p:txEl>
                                          </p:spTgt>
                                        </p:tgtEl>
                                        <p:attrNameLst>
                                          <p:attrName>style.visibility</p:attrName>
                                        </p:attrNameLst>
                                      </p:cBhvr>
                                      <p:to>
                                        <p:strVal val="visible"/>
                                      </p:to>
                                    </p:set>
                                    <p:anim calcmode="lin" valueType="num">
                                      <p:cBhvr additive="base">
                                        <p:cTn id="19" dur="500"/>
                                        <p:tgtEl>
                                          <p:spTgt spid="31">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1">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p:tgtEl>
                                          <p:spTgt spid="20"/>
                                        </p:tgtEl>
                                        <p:attrNameLst>
                                          <p:attrName>ppt_y</p:attrName>
                                        </p:attrNameLst>
                                      </p:cBhvr>
                                      <p:tavLst>
                                        <p:tav tm="0">
                                          <p:val>
                                            <p:strVal val="#ppt_y+#ppt_h*1.125000"/>
                                          </p:val>
                                        </p:tav>
                                        <p:tav tm="100000">
                                          <p:val>
                                            <p:strVal val="#ppt_y"/>
                                          </p:val>
                                        </p:tav>
                                      </p:tavLst>
                                    </p:anim>
                                    <p:animEffect transition="in" filter="wipe(up)">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p:tgtEl>
                                          <p:spTgt spid="30"/>
                                        </p:tgtEl>
                                        <p:attrNameLst>
                                          <p:attrName>ppt_y</p:attrName>
                                        </p:attrNameLst>
                                      </p:cBhvr>
                                      <p:tavLst>
                                        <p:tav tm="0">
                                          <p:val>
                                            <p:strVal val="#ppt_y+#ppt_h*1.125000"/>
                                          </p:val>
                                        </p:tav>
                                        <p:tav tm="100000">
                                          <p:val>
                                            <p:strVal val="#ppt_y"/>
                                          </p:val>
                                        </p:tav>
                                      </p:tavLst>
                                    </p:anim>
                                    <p:animEffect transition="in" filter="wipe(up)">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nodePh="1">
                                  <p:stCondLst>
                                    <p:cond delay="0"/>
                                  </p:stCondLst>
                                  <p:endCondLst>
                                    <p:cond evt="begin" delay="0">
                                      <p:tn val="35"/>
                                    </p:cond>
                                  </p:end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p:tgtEl>
                                          <p:spTgt spid="23"/>
                                        </p:tgtEl>
                                        <p:attrNameLst>
                                          <p:attrName>ppt_y</p:attrName>
                                        </p:attrNameLst>
                                      </p:cBhvr>
                                      <p:tavLst>
                                        <p:tav tm="0">
                                          <p:val>
                                            <p:strVal val="#ppt_y+#ppt_h*1.125000"/>
                                          </p:val>
                                        </p:tav>
                                        <p:tav tm="100000">
                                          <p:val>
                                            <p:strVal val="#ppt_y"/>
                                          </p:val>
                                        </p:tav>
                                      </p:tavLst>
                                    </p:anim>
                                    <p:animEffect transition="in" filter="wipe(up)">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p:tgtEl>
                                          <p:spTgt spid="32"/>
                                        </p:tgtEl>
                                        <p:attrNameLst>
                                          <p:attrName>ppt_y</p:attrName>
                                        </p:attrNameLst>
                                      </p:cBhvr>
                                      <p:tavLst>
                                        <p:tav tm="0">
                                          <p:val>
                                            <p:strVal val="#ppt_y+#ppt_h*1.125000"/>
                                          </p:val>
                                        </p:tav>
                                        <p:tav tm="100000">
                                          <p:val>
                                            <p:strVal val="#ppt_y"/>
                                          </p:val>
                                        </p:tav>
                                      </p:tavLst>
                                    </p:anim>
                                    <p:animEffect transition="in" filter="wipe(up)">
                                      <p:cBhvr>
                                        <p:cTn id="4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1429</TotalTime>
  <Words>655</Words>
  <Application>Microsoft Office PowerPoint</Application>
  <PresentationFormat>Widescreen</PresentationFormat>
  <Paragraphs>73</Paragraphs>
  <Slides>15</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3" baseType="lpstr">
      <vt:lpstr>Arial</vt:lpstr>
      <vt:lpstr>Calibri</vt:lpstr>
      <vt:lpstr>Times New Roman</vt:lpstr>
      <vt:lpstr>Trebuchet MS</vt:lpstr>
      <vt:lpstr>Wingdings</vt:lpstr>
      <vt:lpstr>Wingdings 3</vt:lpstr>
      <vt:lpstr>Facet</vt:lpstr>
      <vt:lpstr>Adobe Acrobat Document</vt:lpstr>
      <vt:lpstr>Project Title -</vt:lpstr>
      <vt:lpstr>Problem  Statement</vt:lpstr>
      <vt:lpstr>Project Description </vt:lpstr>
      <vt:lpstr>Who Are The End Users?</vt:lpstr>
      <vt:lpstr>Technology Used</vt:lpstr>
      <vt:lpstr>Results </vt:lpstr>
      <vt:lpstr>PowerPoint Presentation</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kondalaniveditha@gmail.com</cp:lastModifiedBy>
  <cp:revision>104</cp:revision>
  <dcterms:created xsi:type="dcterms:W3CDTF">2021-07-11T13:13:15Z</dcterms:created>
  <dcterms:modified xsi:type="dcterms:W3CDTF">2026-09-08T18:52:57Z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